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>
        <p:scale>
          <a:sx n="62" d="100"/>
          <a:sy n="62" d="100"/>
        </p:scale>
        <p:origin x="828" y="4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985A6-1C80-4DAC-9444-2DECD48A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C01B5-75D4-A07B-777E-7849EB015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A887C-E39A-7376-6424-568532EA8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863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94E41-43A9-177F-5129-6B8285BC4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A14B6-71BF-F48F-3B8B-52319E60A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E45FC-90DD-5C76-5F6B-A73926C5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455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86ABA-3289-ECB0-B088-FA9F3EF3F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844DA-3431-E7CB-B44F-BBAA5E1AE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6A206-EFD5-1FC1-350B-44D508E66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730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3A858-2AE3-0BBC-3B5C-1D1BFC7B5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B2976-81EC-766B-23FF-CB4F7CFDD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EF8A3-9F9B-FB88-0842-8AC0ED967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3844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Marketing campaign analytics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163009"/>
            <a:ext cx="6583680" cy="1531357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55" y="1909966"/>
            <a:ext cx="8527551" cy="320734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Build a single, refreshable Power BI dashboard that lets marketing and stakeholders compare campaign performance between two beauty care products Tira and </a:t>
            </a:r>
            <a:r>
              <a:rPr lang="en-IN" dirty="0" err="1"/>
              <a:t>Purplle</a:t>
            </a:r>
            <a:r>
              <a:rPr lang="en-IN" dirty="0"/>
              <a:t>, to identify the best-performing campaign types, audiences, and channels, and track efficiency metrics— to guide budget reallocation across platforms and channels.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47FD8DE-49DA-2FF8-F0F1-0F766A49D11B}"/>
              </a:ext>
            </a:extLst>
          </p:cNvPr>
          <p:cNvSpPr/>
          <p:nvPr/>
        </p:nvSpPr>
        <p:spPr>
          <a:xfrm>
            <a:off x="904126" y="145378"/>
            <a:ext cx="9719353" cy="1323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02C8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Raw Data to Dashboard</a:t>
            </a:r>
            <a:endParaRPr lang="en-US" sz="3600" dirty="0">
              <a:solidFill>
                <a:srgbClr val="202C8F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A3F5434-C6C8-D61B-BFF9-CA67BD816AB5}"/>
              </a:ext>
            </a:extLst>
          </p:cNvPr>
          <p:cNvSpPr txBox="1">
            <a:spLocks/>
          </p:cNvSpPr>
          <p:nvPr/>
        </p:nvSpPr>
        <p:spPr>
          <a:xfrm>
            <a:off x="1643864" y="1614581"/>
            <a:ext cx="6102850" cy="4303333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Source File – 2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sz="1800" dirty="0"/>
              <a:t>purplle_campaign_data-selected-columns13.csv</a:t>
            </a:r>
          </a:p>
          <a:p>
            <a:pPr marL="0" indent="0">
              <a:buNone/>
            </a:pPr>
            <a:r>
              <a:rPr lang="en-IN" sz="1800" dirty="0"/>
              <a:t>	tira_campaign_data-selected-columns13.csv</a:t>
            </a:r>
          </a:p>
          <a:p>
            <a:r>
              <a:rPr lang="en-IN" dirty="0"/>
              <a:t>Source Columns – 13 each</a:t>
            </a:r>
          </a:p>
          <a:p>
            <a:r>
              <a:rPr lang="en-IN" dirty="0"/>
              <a:t>Total Rows – 55555 each (111110)</a:t>
            </a:r>
          </a:p>
          <a:p>
            <a:r>
              <a:rPr lang="en-IN" dirty="0"/>
              <a:t>Calculated Columns - 2</a:t>
            </a:r>
          </a:p>
          <a:p>
            <a:r>
              <a:rPr lang="en-IN" dirty="0"/>
              <a:t>DAX Measures – 19</a:t>
            </a:r>
          </a:p>
          <a:p>
            <a:r>
              <a:rPr lang="en-IN" dirty="0"/>
              <a:t>Dashboard Pages - 5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189059AB-BAF1-B032-B314-4EACD2D21931}"/>
              </a:ext>
            </a:extLst>
          </p:cNvPr>
          <p:cNvSpPr/>
          <p:nvPr/>
        </p:nvSpPr>
        <p:spPr>
          <a:xfrm>
            <a:off x="1102931" y="848381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02C8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Calculated Columns</a:t>
            </a:r>
            <a:endParaRPr lang="en-US" sz="3600" dirty="0">
              <a:solidFill>
                <a:srgbClr val="202C8F"/>
              </a:solidFill>
            </a:endParaRP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A44D4F24-C017-F44A-CE2C-AA94BC901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934996"/>
              </p:ext>
            </p:extLst>
          </p:nvPr>
        </p:nvGraphicFramePr>
        <p:xfrm>
          <a:off x="1500027" y="1929307"/>
          <a:ext cx="6285213" cy="2531735"/>
        </p:xfrm>
        <a:graphic>
          <a:graphicData uri="http://schemas.openxmlformats.org/drawingml/2006/table">
            <a:tbl>
              <a:tblPr/>
              <a:tblGrid>
                <a:gridCol w="1262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2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Formula</a:t>
                      </a:r>
                      <a:endParaRPr lang="en-US" sz="12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Cost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Acquisition_Cost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*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Conversions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7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Duration Bucket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 ( TRUE, [Duration] &lt;= 10, "Short (≤10d)", [Duration] &lt;= 20, "Medium (11–20d)", "Long (21–30d)" ) 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51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 Flag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( 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Fact_Campaigns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[ROI] &lt; 0, "Loss-making", "Profitable" 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736DCA-C543-AFB2-0718-A77572208251}"/>
              </a:ext>
            </a:extLst>
          </p:cNvPr>
          <p:cNvSpPr/>
          <p:nvPr/>
        </p:nvSpPr>
        <p:spPr>
          <a:xfrm>
            <a:off x="2613232" y="372952"/>
            <a:ext cx="400332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02C8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DAX Measures</a:t>
            </a:r>
            <a:endParaRPr lang="en-US" sz="3600" dirty="0">
              <a:solidFill>
                <a:srgbClr val="202C8F"/>
              </a:solidFill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99656409-078E-A5D0-79A9-0D5421B75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835448"/>
              </p:ext>
            </p:extLst>
          </p:nvPr>
        </p:nvGraphicFramePr>
        <p:xfrm>
          <a:off x="2732925" y="1417319"/>
          <a:ext cx="7263829" cy="4367032"/>
        </p:xfrm>
        <a:graphic>
          <a:graphicData uri="http://schemas.openxmlformats.org/drawingml/2006/table">
            <a:tbl>
              <a:tblPr/>
              <a:tblGrid>
                <a:gridCol w="2141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1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Formula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 ( </a:t>
                      </a:r>
                      <a:r>
                        <a:rPr lang="en-IN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Fact_Campaigns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[Revenue] 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Cost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SUM ( </a:t>
                      </a: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Fact_Campaigns</a:t>
                      </a: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[</a:t>
                      </a: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Total_Cost</a:t>
                      </a: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] )  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 Count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DISTINCTCOUNT ( </a:t>
                      </a: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Fact_Campaigns</a:t>
                      </a: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[</a:t>
                      </a: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Campaign_ID</a:t>
                      </a: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] 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CTR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DIVIDE ( [Total Clicks], [Total Impressions] 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Rate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DIVIDE ( [Total Leads], [Total Clicks] 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5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 Rate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DIVIDE ( [Total Conversions], [Total Leads] 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58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414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Funnel Rate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DIVIDE ( [Total Conversions], [Total Impressions] 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52833635-51FE-E756-0632-7018AFF4493C}"/>
              </a:ext>
            </a:extLst>
          </p:cNvPr>
          <p:cNvSpPr/>
          <p:nvPr/>
        </p:nvSpPr>
        <p:spPr>
          <a:xfrm>
            <a:off x="3856405" y="647272"/>
            <a:ext cx="400332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02C8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DAX Measures</a:t>
            </a:r>
            <a:endParaRPr lang="en-US" sz="3600" dirty="0">
              <a:solidFill>
                <a:srgbClr val="202C8F"/>
              </a:solidFill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6F3D8AFF-14C7-8BF1-630C-3B15F91BA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958060"/>
              </p:ext>
            </p:extLst>
          </p:nvPr>
        </p:nvGraphicFramePr>
        <p:xfrm>
          <a:off x="3996647" y="1417320"/>
          <a:ext cx="6596009" cy="4919472"/>
        </p:xfrm>
        <a:graphic>
          <a:graphicData uri="http://schemas.openxmlformats.org/drawingml/2006/table">
            <a:tbl>
              <a:tblPr/>
              <a:tblGrid>
                <a:gridCol w="1864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1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CPA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DIVIDE ( [Total Cost], [Total Conversions] 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41414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ROAS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DIVIDE ( [Total Revenue], [Total Cost] 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41414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ROI%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DIVIDE ( [Total Revenue] - [Total Cost], [Total Cost] 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41414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Revenue per Conversion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DIVIDE ( [Total Revenue], [Total Conversions] 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Campaign Duration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( </a:t>
                      </a: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Fact_Campaigns</a:t>
                      </a: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[Duration] 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Negative-ROI Campaign Count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CALCULATE ( [Campaign Count], </a:t>
                      </a: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Fact_Campaigns</a:t>
                      </a: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[ROI] &lt; 0 )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Negative-ROI Campaigns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CALCULATE ( [Campaign Count], </a:t>
                      </a: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Fact_Campaigns</a:t>
                      </a: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[ROI] &lt; 0 )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8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r>
                        <a:rPr lang="en-IN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Platform Revenue Share %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DIVIDE ( [Total Revenue], CALCULATE ( [Total Revenue], ALL ( </a:t>
                      </a:r>
                      <a:r>
                        <a:rPr lang="en-IN" sz="16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Dim_Platform</a:t>
                      </a:r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) ) 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110378-6E71-25C9-48A0-42545A1A6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7402" y="708917"/>
            <a:ext cx="10155021" cy="590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50C1-CCE9-CCE4-6D07-E47495C10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203F23-E5CC-0110-7B8B-895E53779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7" y="446926"/>
            <a:ext cx="9359757" cy="641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88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BED2D-2439-4931-4C73-AC727C43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7D2365-6057-0D3E-A59C-F23571DBEA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16D8D-E0B8-38AB-2AEA-A3529DDAE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94" y="575353"/>
            <a:ext cx="9094745" cy="570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84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F4EAC-F89C-217F-BC5A-027FEF095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F7AF6E-0AE0-DB59-0B32-759234A7E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7FADB5-494E-C9AB-F8B8-9BFB114D2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09" y="297951"/>
            <a:ext cx="9174822" cy="626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31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5CDEA-C421-40BB-D74D-A36812C5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91B6A-D95D-ED37-7578-77E444407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CFC6A-8AAA-471A-7111-EFEFBECE5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59" y="226030"/>
            <a:ext cx="9072172" cy="619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59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0C767622-F21D-37E7-CD70-141A0428E13F}"/>
              </a:ext>
            </a:extLst>
          </p:cNvPr>
          <p:cNvSpPr/>
          <p:nvPr/>
        </p:nvSpPr>
        <p:spPr>
          <a:xfrm>
            <a:off x="3856405" y="647272"/>
            <a:ext cx="400332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02C8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Summary</a:t>
            </a:r>
            <a:endParaRPr lang="en-US" sz="3600" dirty="0">
              <a:solidFill>
                <a:srgbClr val="202C8F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05EE8C4-6F05-23EA-B01F-3A5592572B3A}"/>
              </a:ext>
            </a:extLst>
          </p:cNvPr>
          <p:cNvSpPr txBox="1">
            <a:spLocks/>
          </p:cNvSpPr>
          <p:nvPr/>
        </p:nvSpPr>
        <p:spPr>
          <a:xfrm>
            <a:off x="941882" y="1189747"/>
            <a:ext cx="9832370" cy="538571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</a:t>
            </a:r>
            <a:r>
              <a:rPr lang="en-IN" dirty="0" err="1"/>
              <a:t>enerated</a:t>
            </a:r>
            <a:r>
              <a:rPr lang="en-IN" dirty="0"/>
              <a:t> 57 Billion in total revenue from 6 Billion impressions and 520M clicks</a:t>
            </a:r>
          </a:p>
          <a:p>
            <a:r>
              <a:rPr lang="en-IN" dirty="0"/>
              <a:t>Achieved an average ROI of1.93% with a total spend of 19.43Bn</a:t>
            </a:r>
          </a:p>
          <a:p>
            <a:r>
              <a:rPr lang="en-IN" dirty="0"/>
              <a:t>Average 8.5% CTR across active campaigns</a:t>
            </a:r>
          </a:p>
          <a:p>
            <a:r>
              <a:rPr lang="en-IN" dirty="0"/>
              <a:t>Stood at 54.97% conversion rate from total leads to final sales</a:t>
            </a:r>
          </a:p>
          <a:p>
            <a:r>
              <a:rPr lang="en-IN" dirty="0"/>
              <a:t>Email delivered highest ROI at 2.9%</a:t>
            </a:r>
          </a:p>
          <a:p>
            <a:r>
              <a:rPr lang="en-IN" dirty="0"/>
              <a:t>Email campaign produced a strongest of 11.54Bn</a:t>
            </a:r>
          </a:p>
          <a:p>
            <a:r>
              <a:rPr lang="en-IN" dirty="0"/>
              <a:t>Peak conversion periods occur for long duration campaigns</a:t>
            </a:r>
          </a:p>
          <a:p>
            <a:r>
              <a:rPr lang="en-IN" dirty="0"/>
              <a:t>Youth were the highest spend audience in </a:t>
            </a:r>
            <a:r>
              <a:rPr lang="en-IN" dirty="0" err="1"/>
              <a:t>Purplle</a:t>
            </a:r>
            <a:r>
              <a:rPr lang="en-IN" dirty="0"/>
              <a:t> platform where as Premium Shoppers were more in Tira</a:t>
            </a:r>
          </a:p>
          <a:p>
            <a:r>
              <a:rPr lang="en-IN" dirty="0"/>
              <a:t>Allocate more marketing fund towards Email workflow to maximise overall profitability</a:t>
            </a:r>
          </a:p>
          <a:p>
            <a:r>
              <a:rPr lang="en-IN" dirty="0"/>
              <a:t>Refine targeting on higher cost channels like SEO to reduce acquisition cost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529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{A1CEB764-0E98-43A0-8AFB-F7E5BAB8076C}TF8a9b5915-b8c7-461e-8cdd-693d48b5e32371f7b7e2_win32-4bf0b9a2ea37</Template>
  <TotalTime>401</TotalTime>
  <Words>513</Words>
  <Application>Microsoft Office PowerPoint</Application>
  <PresentationFormat>Widescreen</PresentationFormat>
  <Paragraphs>75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Bookman Old Style</vt:lpstr>
      <vt:lpstr>Calibri</vt:lpstr>
      <vt:lpstr>Courier New</vt:lpstr>
      <vt:lpstr>Sabon Next LT</vt:lpstr>
      <vt:lpstr>Custom</vt:lpstr>
      <vt:lpstr>Marketing campaign analytics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Susha S</dc:creator>
  <cp:lastModifiedBy>Susha S</cp:lastModifiedBy>
  <cp:revision>6</cp:revision>
  <dcterms:created xsi:type="dcterms:W3CDTF">2026-09-16T11:11:59Z</dcterms:created>
  <dcterms:modified xsi:type="dcterms:W3CDTF">2026-09-21T13:51:38Z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